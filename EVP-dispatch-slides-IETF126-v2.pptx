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8"/>
  </p:notesMasterIdLst>
  <p:sldIdLst>
    <p:sldId id="256" r:id="rId3"/>
    <p:sldId id="258" r:id="rId4"/>
    <p:sldId id="259" r:id="rId5"/>
    <p:sldId id="261" r:id="rId6"/>
    <p:sldId id="260" r:id="rId7"/>
  </p:sldIdLst>
  <p:sldSz cx="9144000" cy="5143500" type="screen16x9"/>
  <p:notesSz cx="6858000" cy="9144000"/>
  <p:embeddedFontLst>
    <p:embeddedFont>
      <p:font typeface="Inter" panose="02000503000000020004" pitchFamily="2" charset="0"/>
      <p:regular r:id="rId9"/>
      <p:bold r:id="rId10"/>
    </p:embeddedFont>
    <p:embeddedFont>
      <p:font typeface="Montserrat" pitchFamily="2" charset="77"/>
      <p:regular r:id="rId11"/>
      <p:bold r:id="rId12"/>
      <p:italic r:id="rId13"/>
      <p:boldItalic r:id="rId14"/>
    </p:embeddedFont>
    <p:embeddedFont>
      <p:font typeface="Open Sans" panose="020B0606030504020204" pitchFamily="34" charset="0"/>
      <p:regular r:id="rId15"/>
      <p:bold r:id="rId16"/>
      <p:italic r:id="rId17"/>
      <p:boldItalic r:id="rId18"/>
    </p:embeddedFont>
    <p:embeddedFont>
      <p:font typeface="Open Sans SemiBold" panose="020B070603080402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wCXSJ2vs6dUwpbbVMKaZpaPZM4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1.xml"/><Relationship Id="rId21" Type="http://schemas.openxmlformats.org/officeDocument/2006/relationships/font" Target="fonts/font13.fntdata"/><Relationship Id="rId7" Type="http://schemas.openxmlformats.org/officeDocument/2006/relationships/slide" Target="slides/slide5.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3.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c1733ce9ce_1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g2c1733ce9ce_1_5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6d7faed1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g26d7faed14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8f69ff7a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g28f69ff7af0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8f69ff7af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8f69ff7af0_0_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4200"/>
              <a:buFont typeface="Open Sans"/>
              <a:buNone/>
              <a:defRPr sz="4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11" name="Google Shape;11;p1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14"/>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14"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17"/>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17"/>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17"/>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3600"/>
              <a:buFont typeface="Open Sans"/>
              <a:buNone/>
              <a:defRPr sz="36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18" name="Google Shape;18;p17"/>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19" name="Google Shape;19;p17"/>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19"/>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20"/>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20"/>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20"/>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3200"/>
              <a:buFont typeface="Open Sans"/>
              <a:buNone/>
              <a:defRPr sz="3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26" name="Google Shape;26;p20"/>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1pPr>
            <a:lvl2pPr marL="914400" marR="0" lvl="1"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2pPr>
            <a:lvl3pPr marL="1371600" marR="0" lvl="2"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3pPr>
            <a:lvl4pPr marL="1828800" marR="0" lvl="3"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4pPr>
            <a:lvl5pPr marL="2286000" marR="0" lvl="4"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27" name="Google Shape;27;p20"/>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28" name="Google Shape;28;p20"/>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_COLUMN_TEXT">
  <p:cSld name="ONE_COLUMN_TEXT">
    <p:bg>
      <p:bgPr>
        <a:solidFill>
          <a:srgbClr val="002D3C"/>
        </a:solidFill>
        <a:effectLst/>
      </p:bgPr>
    </p:bg>
    <p:spTree>
      <p:nvGrpSpPr>
        <p:cNvPr id="1" name="Shape 29"/>
        <p:cNvGrpSpPr/>
        <p:nvPr/>
      </p:nvGrpSpPr>
      <p:grpSpPr>
        <a:xfrm>
          <a:off x="0" y="0"/>
          <a:ext cx="0" cy="0"/>
          <a:chOff x="0" y="0"/>
          <a:chExt cx="0" cy="0"/>
        </a:xfrm>
      </p:grpSpPr>
      <p:sp>
        <p:nvSpPr>
          <p:cNvPr id="30" name="Google Shape;30;p21"/>
          <p:cNvSpPr/>
          <p:nvPr/>
        </p:nvSpPr>
        <p:spPr>
          <a:xfrm rot="10800000" flipH="1">
            <a:off x="3276600" y="24"/>
            <a:ext cx="5867400" cy="51435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21"/>
          <p:cNvSpPr/>
          <p:nvPr/>
        </p:nvSpPr>
        <p:spPr>
          <a:xfrm rot="-5400000">
            <a:off x="759149" y="2517450"/>
            <a:ext cx="5143501"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2" name="Google Shape;32;p21"/>
          <p:cNvSpPr txBox="1">
            <a:spLocks noGrp="1"/>
          </p:cNvSpPr>
          <p:nvPr>
            <p:ph type="title"/>
          </p:nvPr>
        </p:nvSpPr>
        <p:spPr>
          <a:xfrm>
            <a:off x="226077" y="357800"/>
            <a:ext cx="2808001" cy="953401"/>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33" name="Google Shape;33;p21"/>
          <p:cNvSpPr txBox="1">
            <a:spLocks noGrp="1"/>
          </p:cNvSpPr>
          <p:nvPr>
            <p:ph type="body" idx="1"/>
          </p:nvPr>
        </p:nvSpPr>
        <p:spPr>
          <a:xfrm>
            <a:off x="226075" y="1465799"/>
            <a:ext cx="2808000" cy="3163501"/>
          </a:xfrm>
          <a:prstGeom prst="rect">
            <a:avLst/>
          </a:prstGeom>
          <a:noFill/>
          <a:ln>
            <a:noFill/>
          </a:ln>
        </p:spPr>
        <p:txBody>
          <a:bodyPr spcFirstLastPara="1" wrap="square" lIns="91400" tIns="91400" rIns="91400" bIns="91400" anchor="t" anchorCtr="0">
            <a:noAutofit/>
          </a:bodyPr>
          <a:lstStyle>
            <a:lvl1pPr marL="457200" marR="0" lvl="0"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1pPr>
            <a:lvl2pPr marL="914400" marR="0" lvl="1"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2pPr>
            <a:lvl3pPr marL="1371600" marR="0" lvl="2"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3pPr>
            <a:lvl4pPr marL="1828800" marR="0" lvl="3"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4pPr>
            <a:lvl5pPr marL="2286000" marR="0" lvl="4"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34" name="Google Shape;34;p2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_POINT">
  <p:cSld name="MAIN_POINT">
    <p:bg>
      <p:bgPr>
        <a:solidFill>
          <a:srgbClr val="002D3C"/>
        </a:solidFill>
        <a:effectLst/>
      </p:bgPr>
    </p:bg>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490250" y="488249"/>
            <a:ext cx="6227101" cy="4090801"/>
          </a:xfrm>
          <a:prstGeom prst="rect">
            <a:avLst/>
          </a:prstGeom>
          <a:noFill/>
          <a:ln>
            <a:noFill/>
          </a:ln>
        </p:spPr>
        <p:txBody>
          <a:bodyPr spcFirstLastPara="1" wrap="square" lIns="91400" tIns="91400" rIns="91400" bIns="91400" anchor="ctr" anchorCtr="0">
            <a:noAutofit/>
          </a:bodyPr>
          <a:lstStyle>
            <a:lvl1pPr marR="0" lvl="0" algn="l">
              <a:lnSpc>
                <a:spcPct val="100000"/>
              </a:lnSpc>
              <a:spcBef>
                <a:spcPts val="0"/>
              </a:spcBef>
              <a:spcAft>
                <a:spcPts val="0"/>
              </a:spcAft>
              <a:buClr>
                <a:srgbClr val="FFFFFF"/>
              </a:buClr>
              <a:buSzPts val="5200"/>
              <a:buFont typeface="Open Sans"/>
              <a:buNone/>
              <a:defRPr sz="5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37" name="Google Shape;37;p2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bg>
      <p:bgPr>
        <a:solidFill>
          <a:srgbClr val="002D3C"/>
        </a:solidFill>
        <a:effectLst/>
      </p:bgPr>
    </p:bg>
    <p:spTree>
      <p:nvGrpSpPr>
        <p:cNvPr id="1" name="Shape 38"/>
        <p:cNvGrpSpPr/>
        <p:nvPr/>
      </p:nvGrpSpPr>
      <p:grpSpPr>
        <a:xfrm>
          <a:off x="0" y="0"/>
          <a:ext cx="0" cy="0"/>
          <a:chOff x="0" y="0"/>
          <a:chExt cx="0" cy="0"/>
        </a:xfrm>
      </p:grpSpPr>
      <p:sp>
        <p:nvSpPr>
          <p:cNvPr id="39" name="Google Shape;39;p23"/>
          <p:cNvSpPr/>
          <p:nvPr/>
        </p:nvSpPr>
        <p:spPr>
          <a:xfrm flipH="1">
            <a:off x="0" y="0"/>
            <a:ext cx="4572000" cy="5143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0" name="Google Shape;40;p23"/>
          <p:cNvSpPr/>
          <p:nvPr/>
        </p:nvSpPr>
        <p:spPr>
          <a:xfrm rot="5400000">
            <a:off x="1946424" y="2517749"/>
            <a:ext cx="5142902"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1" name="Google Shape;41;p23"/>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4200"/>
              <a:buFont typeface="Arial"/>
              <a:buNone/>
              <a:defRPr sz="4200" b="0" i="0" u="none" strike="noStrike" cap="none">
                <a:solidFill>
                  <a:srgbClr val="424242"/>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265500" y="2779466"/>
            <a:ext cx="4045200" cy="1235101"/>
          </a:xfrm>
          <a:prstGeom prst="rect">
            <a:avLst/>
          </a:prstGeom>
          <a:noFill/>
          <a:ln>
            <a:noFill/>
          </a:ln>
        </p:spPr>
        <p:txBody>
          <a:bodyPr spcFirstLastPara="1" wrap="square" lIns="91400" tIns="91400" rIns="91400" bIns="91400" anchor="t" anchorCtr="0">
            <a:noAutofit/>
          </a:bodyPr>
          <a:lstStyle>
            <a:lvl1pPr marL="457200" marR="0" lvl="0"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1pPr>
            <a:lvl2pPr marL="914400" marR="0" lvl="1"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2pPr>
            <a:lvl3pPr marL="1371600" marR="0" lvl="2"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3pPr>
            <a:lvl4pPr marL="1828800" marR="0" lvl="3"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4pPr>
            <a:lvl5pPr marL="2286000" marR="0" lvl="4"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43" name="Google Shape;43;p23"/>
          <p:cNvSpPr txBox="1">
            <a:spLocks noGrp="1"/>
          </p:cNvSpPr>
          <p:nvPr>
            <p:ph type="body" idx="2"/>
          </p:nvPr>
        </p:nvSpPr>
        <p:spPr>
          <a:xfrm>
            <a:off x="4939500" y="724199"/>
            <a:ext cx="3837000" cy="3695101"/>
          </a:xfrm>
          <a:prstGeom prst="rect">
            <a:avLst/>
          </a:prstGeom>
          <a:noFill/>
          <a:ln>
            <a:noFill/>
          </a:ln>
        </p:spPr>
        <p:txBody>
          <a:bodyPr spcFirstLastPara="1" wrap="square" lIns="91400" tIns="91400" rIns="91400" bIns="91400" anchor="ctr" anchorCtr="0">
            <a:noAutofit/>
          </a:bodyPr>
          <a:lstStyle>
            <a:lvl1pPr marL="457200" marR="0" lvl="0"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44" name="Google Shape;44;p2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_ONLY">
  <p:cSld name="CAPTION_ONLY">
    <p:bg>
      <p:bgPr>
        <a:solidFill>
          <a:srgbClr val="002D3C"/>
        </a:solidFill>
        <a:effectLst/>
      </p:bgPr>
    </p:bg>
    <p:spTree>
      <p:nvGrpSpPr>
        <p:cNvPr id="1" name="Shape 45"/>
        <p:cNvGrpSpPr/>
        <p:nvPr/>
      </p:nvGrpSpPr>
      <p:grpSpPr>
        <a:xfrm>
          <a:off x="0" y="0"/>
          <a:ext cx="0" cy="0"/>
          <a:chOff x="0" y="0"/>
          <a:chExt cx="0" cy="0"/>
        </a:xfrm>
      </p:grpSpPr>
      <p:sp>
        <p:nvSpPr>
          <p:cNvPr id="46" name="Google Shape;46;p24"/>
          <p:cNvSpPr/>
          <p:nvPr/>
        </p:nvSpPr>
        <p:spPr>
          <a:xfrm rot="10800000" flipH="1">
            <a:off x="0" y="0"/>
            <a:ext cx="9144000" cy="46959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7" name="Google Shape;47;p24"/>
          <p:cNvSpPr/>
          <p:nvPr/>
        </p:nvSpPr>
        <p:spPr>
          <a:xfrm rot="10800000" flipH="1">
            <a:off x="0" y="4622724"/>
            <a:ext cx="9144000" cy="741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8" name="Google Shape;48;p24"/>
          <p:cNvSpPr txBox="1">
            <a:spLocks noGrp="1"/>
          </p:cNvSpPr>
          <p:nvPr>
            <p:ph type="body" idx="1"/>
          </p:nvPr>
        </p:nvSpPr>
        <p:spPr>
          <a:xfrm>
            <a:off x="57150" y="4696824"/>
            <a:ext cx="8382000" cy="446701"/>
          </a:xfrm>
          <a:prstGeom prst="rect">
            <a:avLst/>
          </a:prstGeom>
          <a:noFill/>
          <a:ln>
            <a:noFill/>
          </a:ln>
        </p:spPr>
        <p:txBody>
          <a:bodyPr spcFirstLastPara="1" wrap="square" lIns="91400" tIns="91400" rIns="91400" bIns="91400" anchor="ctr" anchorCtr="0">
            <a:noAutofit/>
          </a:bodyPr>
          <a:lstStyle>
            <a:lvl1pPr marL="457200" marR="0" lvl="0" indent="-228600" algn="l">
              <a:lnSpc>
                <a:spcPct val="100000"/>
              </a:lnSpc>
              <a:spcBef>
                <a:spcPts val="0"/>
              </a:spcBef>
              <a:spcAft>
                <a:spcPts val="0"/>
              </a:spcAft>
              <a:buClr>
                <a:srgbClr val="FFFFFF"/>
              </a:buClr>
              <a:buSzPts val="1200"/>
              <a:buFont typeface="Montserrat"/>
              <a:buNone/>
              <a:defRPr sz="1200" b="0" i="0" u="none" strike="noStrike" cap="none">
                <a:solidFill>
                  <a:srgbClr val="FFFFFF"/>
                </a:solidFill>
                <a:latin typeface="Montserrat"/>
                <a:ea typeface="Montserrat"/>
                <a:cs typeface="Montserrat"/>
                <a:sym typeface="Montserrat"/>
              </a:defRPr>
            </a:lvl1pPr>
          </a:lstStyle>
          <a:p>
            <a:endParaRPr/>
          </a:p>
        </p:txBody>
      </p:sp>
      <p:sp>
        <p:nvSpPr>
          <p:cNvPr id="49" name="Google Shape;49;p2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50"/>
        <p:cNvGrpSpPr/>
        <p:nvPr/>
      </p:nvGrpSpPr>
      <p:grpSpPr>
        <a:xfrm>
          <a:off x="0" y="0"/>
          <a:ext cx="0" cy="0"/>
          <a:chOff x="0" y="0"/>
          <a:chExt cx="0" cy="0"/>
        </a:xfrm>
      </p:grpSpPr>
      <p:sp>
        <p:nvSpPr>
          <p:cNvPr id="51" name="Google Shape;51;p25"/>
          <p:cNvSpPr txBox="1">
            <a:spLocks noGrp="1"/>
          </p:cNvSpPr>
          <p:nvPr>
            <p:ph type="title"/>
          </p:nvPr>
        </p:nvSpPr>
        <p:spPr>
          <a:xfrm>
            <a:off x="475499" y="1258525"/>
            <a:ext cx="8222101" cy="1963500"/>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12000"/>
              <a:buFont typeface="Arial"/>
              <a:buNone/>
              <a:defRPr sz="12000" b="0" i="0" u="none" strike="noStrike" cap="none">
                <a:solidFill>
                  <a:srgbClr val="424242"/>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52" name="Google Shape;52;p25"/>
          <p:cNvSpPr txBox="1">
            <a:spLocks noGrp="1"/>
          </p:cNvSpPr>
          <p:nvPr>
            <p:ph type="body" idx="1"/>
          </p:nvPr>
        </p:nvSpPr>
        <p:spPr>
          <a:xfrm>
            <a:off x="475499" y="3304625"/>
            <a:ext cx="8222101" cy="1300800"/>
          </a:xfrm>
          <a:prstGeom prst="rect">
            <a:avLst/>
          </a:prstGeom>
          <a:noFill/>
          <a:ln>
            <a:noFill/>
          </a:ln>
        </p:spPr>
        <p:txBody>
          <a:bodyPr spcFirstLastPara="1" wrap="square" lIns="91400" tIns="91400" rIns="91400" bIns="91400" anchor="t" anchorCtr="0">
            <a:noAutofit/>
          </a:bodyPr>
          <a:lstStyle>
            <a:lvl1pPr marL="457200" marR="0" lvl="0"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53" name="Google Shape;53;p2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g2c1733ce9ce_1_354"/>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2c1733ce9ce_1_35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g2c1733ce9ce_1_354"/>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60" name="Google Shape;60;g2c1733ce9ce_1_354"/>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61" name="Google Shape;61;g2c1733ce9ce_1_354"/>
          <p:cNvPicPr preferRelativeResize="0"/>
          <p:nvPr/>
        </p:nvPicPr>
        <p:blipFill rotWithShape="1">
          <a:blip r:embed="rId2">
            <a:alphaModFix/>
          </a:blip>
          <a:srcRect/>
          <a:stretch/>
        </p:blipFill>
        <p:spPr>
          <a:xfrm>
            <a:off x="7922625" y="4520234"/>
            <a:ext cx="830437" cy="47450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g2c1733ce9ce_1_444"/>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g2c1733ce9ce_1_44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2c1733ce9ce_1_444"/>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70" name="Google Shape;70;g2c1733ce9ce_1_444"/>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71" name="Google Shape;71;g2c1733ce9ce_1_444"/>
          <p:cNvPicPr preferRelativeResize="0"/>
          <p:nvPr/>
        </p:nvPicPr>
        <p:blipFill rotWithShape="1">
          <a:blip r:embed="rId2">
            <a:alphaModFix/>
          </a:blip>
          <a:srcRect/>
          <a:stretch/>
        </p:blipFill>
        <p:spPr>
          <a:xfrm>
            <a:off x="7922625" y="4520234"/>
            <a:ext cx="830437" cy="47450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2"/>
        <p:cNvGrpSpPr/>
        <p:nvPr/>
      </p:nvGrpSpPr>
      <p:grpSpPr>
        <a:xfrm>
          <a:off x="0" y="0"/>
          <a:ext cx="0" cy="0"/>
          <a:chOff x="0" y="0"/>
          <a:chExt cx="0" cy="0"/>
        </a:xfrm>
      </p:grpSpPr>
      <p:sp>
        <p:nvSpPr>
          <p:cNvPr id="73" name="Google Shape;73;g2c1733ce9ce_1_450"/>
          <p:cNvSpPr txBox="1">
            <a:spLocks noGrp="1"/>
          </p:cNvSpPr>
          <p:nvPr>
            <p:ph type="ctrTitle"/>
          </p:nvPr>
        </p:nvSpPr>
        <p:spPr>
          <a:xfrm>
            <a:off x="390525" y="1819275"/>
            <a:ext cx="8222100" cy="933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74" name="Google Shape;74;g2c1733ce9ce_1_45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75" name="Google Shape;75;g2c1733ce9ce_1_45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76" name="Google Shape;76;g2c1733ce9ce_1_450"/>
          <p:cNvSpPr/>
          <p:nvPr/>
        </p:nvSpPr>
        <p:spPr>
          <a:xfrm>
            <a:off x="-125" y="4147975"/>
            <a:ext cx="9144000" cy="995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7" name="Google Shape;77;g2c1733ce9ce_1_450"/>
          <p:cNvPicPr preferRelativeResize="0"/>
          <p:nvPr/>
        </p:nvPicPr>
        <p:blipFill rotWithShape="1">
          <a:blip r:embed="rId2">
            <a:alphaModFix/>
          </a:blip>
          <a:srcRect/>
          <a:stretch/>
        </p:blipFill>
        <p:spPr>
          <a:xfrm>
            <a:off x="7655588" y="4312262"/>
            <a:ext cx="942131" cy="500343"/>
          </a:xfrm>
          <a:prstGeom prst="rect">
            <a:avLst/>
          </a:prstGeom>
          <a:noFill/>
          <a:ln>
            <a:noFill/>
          </a:ln>
        </p:spPr>
      </p:pic>
      <p:sp>
        <p:nvSpPr>
          <p:cNvPr id="78" name="Google Shape;78;g2c1733ce9ce_1_450"/>
          <p:cNvSpPr txBox="1"/>
          <p:nvPr/>
        </p:nvSpPr>
        <p:spPr>
          <a:xfrm>
            <a:off x="381005" y="4507324"/>
            <a:ext cx="27504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9"/>
        <p:cNvGrpSpPr/>
        <p:nvPr/>
      </p:nvGrpSpPr>
      <p:grpSpPr>
        <a:xfrm>
          <a:off x="0" y="0"/>
          <a:ext cx="0" cy="0"/>
          <a:chOff x="0" y="0"/>
          <a:chExt cx="0" cy="0"/>
        </a:xfrm>
      </p:grpSpPr>
      <p:sp>
        <p:nvSpPr>
          <p:cNvPr id="80" name="Google Shape;80;g2c1733ce9ce_1_45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g2c1733ce9ce_1_45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g2c1733ce9ce_1_45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83" name="Google Shape;83;g2c1733ce9ce_1_457"/>
          <p:cNvSpPr txBox="1">
            <a:spLocks noGrp="1"/>
          </p:cNvSpPr>
          <p:nvPr>
            <p:ph type="body" idx="1"/>
          </p:nvPr>
        </p:nvSpPr>
        <p:spPr>
          <a:xfrm>
            <a:off x="627500" y="1794600"/>
            <a:ext cx="8066400" cy="2710200"/>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84" name="Google Shape;84;g2c1733ce9ce_1_457"/>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85" name="Google Shape;85;g2c1733ce9ce_1_457"/>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6"/>
        <p:cNvGrpSpPr/>
        <p:nvPr/>
      </p:nvGrpSpPr>
      <p:grpSpPr>
        <a:xfrm>
          <a:off x="0" y="0"/>
          <a:ext cx="0" cy="0"/>
          <a:chOff x="0" y="0"/>
          <a:chExt cx="0" cy="0"/>
        </a:xfrm>
      </p:grpSpPr>
      <p:sp>
        <p:nvSpPr>
          <p:cNvPr id="87" name="Google Shape;87;g2c1733ce9ce_1_464"/>
          <p:cNvSpPr txBox="1">
            <a:spLocks noGrp="1"/>
          </p:cNvSpPr>
          <p:nvPr>
            <p:ph type="title"/>
          </p:nvPr>
        </p:nvSpPr>
        <p:spPr>
          <a:xfrm>
            <a:off x="460950" y="2065350"/>
            <a:ext cx="8222100" cy="10128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88" name="Google Shape;88;g2c1733ce9ce_1_46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9"/>
        <p:cNvGrpSpPr/>
        <p:nvPr/>
      </p:nvGrpSpPr>
      <p:grpSpPr>
        <a:xfrm>
          <a:off x="0" y="0"/>
          <a:ext cx="0" cy="0"/>
          <a:chOff x="0" y="0"/>
          <a:chExt cx="0" cy="0"/>
        </a:xfrm>
      </p:grpSpPr>
      <p:sp>
        <p:nvSpPr>
          <p:cNvPr id="90" name="Google Shape;90;g2c1733ce9ce_1_46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g2c1733ce9ce_1_46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g2c1733ce9ce_1_46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93" name="Google Shape;93;g2c1733ce9ce_1_467"/>
          <p:cNvSpPr txBox="1">
            <a:spLocks noGrp="1"/>
          </p:cNvSpPr>
          <p:nvPr>
            <p:ph type="body" idx="1"/>
          </p:nvPr>
        </p:nvSpPr>
        <p:spPr>
          <a:xfrm>
            <a:off x="471900" y="1919075"/>
            <a:ext cx="3999900" cy="27102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94" name="Google Shape;94;g2c1733ce9ce_1_467"/>
          <p:cNvSpPr txBox="1">
            <a:spLocks noGrp="1"/>
          </p:cNvSpPr>
          <p:nvPr>
            <p:ph type="body" idx="2"/>
          </p:nvPr>
        </p:nvSpPr>
        <p:spPr>
          <a:xfrm>
            <a:off x="4694250" y="1919075"/>
            <a:ext cx="3999900" cy="27102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95" name="Google Shape;95;g2c1733ce9ce_1_467"/>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96" name="Google Shape;96;g2c1733ce9ce_1_467"/>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7"/>
        <p:cNvGrpSpPr/>
        <p:nvPr/>
      </p:nvGrpSpPr>
      <p:grpSpPr>
        <a:xfrm>
          <a:off x="0" y="0"/>
          <a:ext cx="0" cy="0"/>
          <a:chOff x="0" y="0"/>
          <a:chExt cx="0" cy="0"/>
        </a:xfrm>
      </p:grpSpPr>
      <p:sp>
        <p:nvSpPr>
          <p:cNvPr id="98" name="Google Shape;98;g2c1733ce9ce_1_475"/>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g2c1733ce9ce_1_475"/>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2c1733ce9ce_1_475"/>
          <p:cNvSpPr txBox="1">
            <a:spLocks noGrp="1"/>
          </p:cNvSpPr>
          <p:nvPr>
            <p:ph type="title"/>
          </p:nvPr>
        </p:nvSpPr>
        <p:spPr>
          <a:xfrm>
            <a:off x="226078" y="357800"/>
            <a:ext cx="2808000" cy="9534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101" name="Google Shape;101;g2c1733ce9ce_1_475"/>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102" name="Google Shape;102;g2c1733ce9ce_1_47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3"/>
        <p:cNvGrpSpPr/>
        <p:nvPr/>
      </p:nvGrpSpPr>
      <p:grpSpPr>
        <a:xfrm>
          <a:off x="0" y="0"/>
          <a:ext cx="0" cy="0"/>
          <a:chOff x="0" y="0"/>
          <a:chExt cx="0" cy="0"/>
        </a:xfrm>
      </p:grpSpPr>
      <p:sp>
        <p:nvSpPr>
          <p:cNvPr id="104" name="Google Shape;104;g2c1733ce9ce_1_481"/>
          <p:cNvSpPr txBox="1">
            <a:spLocks noGrp="1"/>
          </p:cNvSpPr>
          <p:nvPr>
            <p:ph type="title"/>
          </p:nvPr>
        </p:nvSpPr>
        <p:spPr>
          <a:xfrm>
            <a:off x="490250" y="488250"/>
            <a:ext cx="6227100" cy="40908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105" name="Google Shape;105;g2c1733ce9ce_1_48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g2c1733ce9ce_1_484"/>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2c1733ce9ce_1_484"/>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2c1733ce9ce_1_48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110" name="Google Shape;110;g2c1733ce9ce_1_484"/>
          <p:cNvSpPr txBox="1">
            <a:spLocks noGrp="1"/>
          </p:cNvSpPr>
          <p:nvPr>
            <p:ph type="subTitle" idx="1"/>
          </p:nvPr>
        </p:nvSpPr>
        <p:spPr>
          <a:xfrm>
            <a:off x="265500" y="2779467"/>
            <a:ext cx="4045200" cy="12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111" name="Google Shape;111;g2c1733ce9ce_1_48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112" name="Google Shape;112;g2c1733ce9ce_1_48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g2c1733ce9ce_1_491"/>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g2c1733ce9ce_1_491"/>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2c1733ce9ce_1_491"/>
          <p:cNvSpPr txBox="1">
            <a:spLocks noGrp="1"/>
          </p:cNvSpPr>
          <p:nvPr>
            <p:ph type="body" idx="1"/>
          </p:nvPr>
        </p:nvSpPr>
        <p:spPr>
          <a:xfrm>
            <a:off x="57150" y="4696825"/>
            <a:ext cx="8382000" cy="446700"/>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117" name="Google Shape;117;g2c1733ce9ce_1_49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118"/>
        <p:cNvGrpSpPr/>
        <p:nvPr/>
      </p:nvGrpSpPr>
      <p:grpSpPr>
        <a:xfrm>
          <a:off x="0" y="0"/>
          <a:ext cx="0" cy="0"/>
          <a:chOff x="0" y="0"/>
          <a:chExt cx="0" cy="0"/>
        </a:xfrm>
      </p:grpSpPr>
      <p:sp>
        <p:nvSpPr>
          <p:cNvPr id="119" name="Google Shape;119;g2c1733ce9ce_1_496"/>
          <p:cNvSpPr txBox="1">
            <a:spLocks noGrp="1"/>
          </p:cNvSpPr>
          <p:nvPr>
            <p:ph type="title" hasCustomPrompt="1"/>
          </p:nvPr>
        </p:nvSpPr>
        <p:spPr>
          <a:xfrm>
            <a:off x="475500" y="1258525"/>
            <a:ext cx="8222100" cy="19635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120" name="Google Shape;120;g2c1733ce9ce_1_496"/>
          <p:cNvSpPr txBox="1">
            <a:spLocks noGrp="1"/>
          </p:cNvSpPr>
          <p:nvPr>
            <p:ph type="body" idx="1"/>
          </p:nvPr>
        </p:nvSpPr>
        <p:spPr>
          <a:xfrm>
            <a:off x="475500" y="3304625"/>
            <a:ext cx="8222100" cy="1300800"/>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121" name="Google Shape;121;g2c1733ce9ce_1_49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3"/>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3"/>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62"/>
        <p:cNvGrpSpPr/>
        <p:nvPr/>
      </p:nvGrpSpPr>
      <p:grpSpPr>
        <a:xfrm>
          <a:off x="0" y="0"/>
          <a:ext cx="0" cy="0"/>
          <a:chOff x="0" y="0"/>
          <a:chExt cx="0" cy="0"/>
        </a:xfrm>
      </p:grpSpPr>
      <p:sp>
        <p:nvSpPr>
          <p:cNvPr id="63" name="Google Shape;63;g2c1733ce9ce_1_440"/>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4" name="Google Shape;64;g2c1733ce9ce_1_440"/>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5" name="Google Shape;65;g2c1733ce9ce_1_44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2c1733ce9ce_1_512"/>
          <p:cNvSpPr txBox="1">
            <a:spLocks noGrp="1"/>
          </p:cNvSpPr>
          <p:nvPr>
            <p:ph type="title"/>
          </p:nvPr>
        </p:nvSpPr>
        <p:spPr>
          <a:xfrm>
            <a:off x="377250" y="1089200"/>
            <a:ext cx="8389500" cy="15144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Email Verification Protocol (EVP)</a:t>
            </a:r>
            <a:endParaRPr sz="3600" dirty="0">
              <a:latin typeface="Inter"/>
              <a:ea typeface="Inter"/>
              <a:cs typeface="Inter"/>
              <a:sym typeface="Inter"/>
            </a:endParaRPr>
          </a:p>
          <a:p>
            <a:pPr marL="0" marR="0" lvl="0" indent="0" algn="ctr" rtl="0">
              <a:lnSpc>
                <a:spcPct val="100000"/>
              </a:lnSpc>
              <a:spcBef>
                <a:spcPts val="0"/>
              </a:spcBef>
              <a:spcAft>
                <a:spcPts val="0"/>
              </a:spcAft>
              <a:buClr>
                <a:srgbClr val="FFFFFF"/>
              </a:buClr>
              <a:buSzPts val="4200"/>
              <a:buFont typeface="Open Sans"/>
              <a:buNone/>
            </a:pPr>
            <a:endParaRPr sz="2800" dirty="0">
              <a:latin typeface="Inter"/>
              <a:ea typeface="Inter"/>
              <a:cs typeface="Inter"/>
              <a:sym typeface="Inter"/>
            </a:endParaRPr>
          </a:p>
          <a:p>
            <a:pPr marL="0" marR="0" lvl="0" indent="0" algn="ctr" rtl="0">
              <a:lnSpc>
                <a:spcPct val="100000"/>
              </a:lnSpc>
              <a:spcBef>
                <a:spcPts val="0"/>
              </a:spcBef>
              <a:spcAft>
                <a:spcPts val="0"/>
              </a:spcAft>
              <a:buClr>
                <a:srgbClr val="FFFFFF"/>
              </a:buClr>
              <a:buSzPts val="4200"/>
              <a:buFont typeface="Open Sans"/>
              <a:buNone/>
            </a:pPr>
            <a:r>
              <a:rPr lang="en-US" sz="2000" dirty="0">
                <a:latin typeface="Inter"/>
                <a:ea typeface="Inter"/>
                <a:cs typeface="Inter"/>
                <a:sym typeface="Inter"/>
              </a:rPr>
              <a:t>draft-</a:t>
            </a:r>
            <a:r>
              <a:rPr lang="en-US" sz="2000" dirty="0" err="1">
                <a:latin typeface="Inter"/>
                <a:ea typeface="Inter"/>
                <a:cs typeface="Inter"/>
                <a:sym typeface="Inter"/>
              </a:rPr>
              <a:t>hardt</a:t>
            </a:r>
            <a:r>
              <a:rPr lang="en-US" sz="2000" dirty="0">
                <a:latin typeface="Inter"/>
                <a:ea typeface="Inter"/>
                <a:cs typeface="Inter"/>
                <a:sym typeface="Inter"/>
              </a:rPr>
              <a:t>-email-verification</a:t>
            </a:r>
            <a:endParaRPr sz="2000" dirty="0">
              <a:latin typeface="Inter"/>
              <a:ea typeface="Inter"/>
              <a:cs typeface="Inter"/>
              <a:sym typeface="Inter"/>
            </a:endParaRPr>
          </a:p>
        </p:txBody>
      </p:sp>
      <p:sp>
        <p:nvSpPr>
          <p:cNvPr id="127" name="Google Shape;127;g2c1733ce9ce_1_512"/>
          <p:cNvSpPr txBox="1"/>
          <p:nvPr/>
        </p:nvSpPr>
        <p:spPr>
          <a:xfrm>
            <a:off x="79825" y="4127700"/>
            <a:ext cx="8616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FF0000"/>
              </a:solidFill>
              <a:latin typeface="Montserrat"/>
              <a:ea typeface="Montserrat"/>
              <a:cs typeface="Montserrat"/>
              <a:sym typeface="Montserrat"/>
            </a:endParaRPr>
          </a:p>
        </p:txBody>
      </p:sp>
      <p:sp>
        <p:nvSpPr>
          <p:cNvPr id="128" name="Google Shape;128;g2c1733ce9ce_1_512"/>
          <p:cNvSpPr txBox="1">
            <a:spLocks noGrp="1"/>
          </p:cNvSpPr>
          <p:nvPr>
            <p:ph type="title"/>
          </p:nvPr>
        </p:nvSpPr>
        <p:spPr>
          <a:xfrm>
            <a:off x="387575" y="3311175"/>
            <a:ext cx="8389500" cy="6543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pPr>
            <a:r>
              <a:rPr lang="en-US" sz="1500" dirty="0">
                <a:latin typeface="Inter"/>
                <a:ea typeface="Inter"/>
                <a:cs typeface="Inter"/>
                <a:sym typeface="Inter"/>
              </a:rPr>
              <a:t>Dick Hardt (Hellō) · Sam Goto (Google)</a:t>
            </a:r>
            <a:endParaRPr sz="1500" dirty="0">
              <a:latin typeface="Inter"/>
              <a:ea typeface="Inter"/>
              <a:cs typeface="Inter"/>
              <a:sym typeface="Inter"/>
            </a:endParaRPr>
          </a:p>
        </p:txBody>
      </p:sp>
      <p:sp>
        <p:nvSpPr>
          <p:cNvPr id="129" name="Google Shape;129;g2c1733ce9ce_1_512"/>
          <p:cNvSpPr txBox="1">
            <a:spLocks noGrp="1"/>
          </p:cNvSpPr>
          <p:nvPr>
            <p:ph type="title"/>
          </p:nvPr>
        </p:nvSpPr>
        <p:spPr>
          <a:xfrm>
            <a:off x="7290600" y="0"/>
            <a:ext cx="1853100" cy="6543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tabLst>
                <a:tab pos="271463" algn="l"/>
              </a:tabLst>
            </a:pPr>
            <a:r>
              <a:rPr lang="en-US" sz="1500" b="1" dirty="0">
                <a:latin typeface="Inter"/>
                <a:ea typeface="Inter"/>
                <a:cs typeface="Inter"/>
                <a:sym typeface="Inter"/>
              </a:rPr>
              <a:t>DISPATCH @IETF126</a:t>
            </a:r>
            <a:endParaRPr sz="1500" b="1" dirty="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6d7faed14b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Motivation</a:t>
            </a:r>
            <a:endParaRPr b="1"/>
          </a:p>
        </p:txBody>
      </p:sp>
      <p:sp>
        <p:nvSpPr>
          <p:cNvPr id="142" name="Google Shape;142;g26d7faed14b_0_0"/>
          <p:cNvSpPr txBox="1"/>
          <p:nvPr/>
        </p:nvSpPr>
        <p:spPr>
          <a:xfrm>
            <a:off x="401925" y="1168250"/>
            <a:ext cx="8523000" cy="2400627"/>
          </a:xfrm>
          <a:prstGeom prst="rect">
            <a:avLst/>
          </a:prstGeom>
          <a:noFill/>
          <a:ln>
            <a:noFill/>
          </a:ln>
        </p:spPr>
        <p:txBody>
          <a:bodyPr spcFirstLastPara="1" wrap="square" lIns="91425" tIns="91425" rIns="91425" bIns="91425" anchor="t" anchorCtr="0">
            <a:spAutoFit/>
          </a:bodyPr>
          <a:lstStyle/>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Problem. </a:t>
            </a:r>
            <a:r>
              <a:rPr lang="en-US" sz="1400" dirty="0">
                <a:solidFill>
                  <a:srgbClr val="262626"/>
                </a:solidFill>
                <a:latin typeface="Montserrat"/>
                <a:ea typeface="Montserrat"/>
                <a:cs typeface="Montserrat"/>
                <a:sym typeface="Montserrat"/>
              </a:rPr>
              <a:t>Verifying email control today relies on out-of-band OTPs / “magic links” — the user leaves the site, digs the code out of their inbox, and returns. Adds friction, loses conversions, and is phishable (a malicious site can relay an OTP in real time).</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What EVP does. </a:t>
            </a:r>
            <a:r>
              <a:rPr lang="en-US" sz="1400" dirty="0">
                <a:solidFill>
                  <a:srgbClr val="262626"/>
                </a:solidFill>
                <a:latin typeface="Montserrat"/>
                <a:ea typeface="Montserrat"/>
                <a:cs typeface="Montserrat"/>
                <a:sym typeface="Montserrat"/>
              </a:rPr>
              <a:t>Browser verifies email control cryptographically, with no email sent. Three parties — verifier (site), user agent (browser), issuer (email provider). The browser binds a signed token to the verifier’s origin and a form nonce; the issuer is blinded to which verifier the user is interacting with.</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Interoperability. </a:t>
            </a:r>
            <a:r>
              <a:rPr lang="en-US" sz="1400" dirty="0">
                <a:solidFill>
                  <a:srgbClr val="262626"/>
                </a:solidFill>
                <a:latin typeface="Montserrat"/>
                <a:ea typeface="Montserrat"/>
                <a:cs typeface="Montserrat"/>
                <a:sym typeface="Montserrat"/>
              </a:rPr>
              <a:t>Any conforming Relying Party, Browser, and Issuer interoperate with no proprietary integrations — RPs verify tokens, Browsers run the protocol, Issuers mint standards-compliant tokens.</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Deployment interest. </a:t>
            </a:r>
            <a:r>
              <a:rPr lang="en-US" sz="1400" dirty="0">
                <a:solidFill>
                  <a:srgbClr val="262626"/>
                </a:solidFill>
                <a:latin typeface="Montserrat"/>
                <a:ea typeface="Montserrat"/>
                <a:cs typeface="Montserrat"/>
                <a:sym typeface="Montserrat"/>
              </a:rPr>
              <a:t>Live in Google Chrome and Microsoft Edge origin trials. Implemented by Google (gmail.com / accounts.google.com) and Hellō (issuer.hello.coop).</a:t>
            </a:r>
          </a:p>
        </p:txBody>
      </p:sp>
      <p:sp>
        <p:nvSpPr>
          <p:cNvPr id="3" name="灯片编号占位符 2">
            <a:extLst>
              <a:ext uri="{FF2B5EF4-FFF2-40B4-BE49-F238E27FC236}">
                <a16:creationId xmlns:a16="http://schemas.microsoft.com/office/drawing/2014/main" id="{0A5BEFB3-A97C-4F56-870C-647C1375AA1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
        <p:nvSpPr>
          <p:cNvPr id="2" name="TextBox 1">
            <a:extLst>
              <a:ext uri="{FF2B5EF4-FFF2-40B4-BE49-F238E27FC236}">
                <a16:creationId xmlns:a16="http://schemas.microsoft.com/office/drawing/2014/main" id="{18FCE55E-618C-E230-9665-9C4DDE3C2D65}"/>
              </a:ext>
            </a:extLst>
          </p:cNvPr>
          <p:cNvSpPr txBox="1"/>
          <p:nvPr/>
        </p:nvSpPr>
        <p:spPr>
          <a:xfrm>
            <a:off x="314075" y="4472995"/>
            <a:ext cx="6253701" cy="400110"/>
          </a:xfrm>
          <a:prstGeom prst="rect">
            <a:avLst/>
          </a:prstGeom>
          <a:noFill/>
        </p:spPr>
        <p:txBody>
          <a:bodyPr wrap="square">
            <a:spAutoFit/>
          </a:bodyPr>
          <a:lstStyle/>
          <a:p>
            <a:r>
              <a:rPr lang="en-US" sz="2000" dirty="0">
                <a:solidFill>
                  <a:srgbClr val="FF0000"/>
                </a:solidFill>
              </a:rPr>
              <a:t>Side Meeting: Monday 16:00 – 17:00 Park Suite 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28f69ff7af0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Background</a:t>
            </a:r>
            <a:endParaRPr b="1"/>
          </a:p>
        </p:txBody>
      </p:sp>
      <p:sp>
        <p:nvSpPr>
          <p:cNvPr id="148" name="Google Shape;148;g28f69ff7af0_0_0"/>
          <p:cNvSpPr txBox="1"/>
          <p:nvPr/>
        </p:nvSpPr>
        <p:spPr>
          <a:xfrm>
            <a:off x="401925" y="1168250"/>
            <a:ext cx="8523000" cy="32316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b="1" dirty="0">
                <a:solidFill>
                  <a:srgbClr val="06323D"/>
                </a:solidFill>
                <a:latin typeface="Montserrat"/>
                <a:ea typeface="Montserrat"/>
                <a:cs typeface="Montserrat"/>
                <a:sym typeface="Montserrat"/>
              </a:rPr>
              <a:t>History. </a:t>
            </a:r>
            <a:r>
              <a:rPr lang="en-US" sz="1500" dirty="0">
                <a:solidFill>
                  <a:srgbClr val="262626"/>
                </a:solidFill>
                <a:latin typeface="Montserrat"/>
                <a:ea typeface="Montserrat"/>
                <a:cs typeface="Montserrat"/>
                <a:sym typeface="Montserrat"/>
              </a:rPr>
              <a:t>Started as a W3C incubation; deployed by Chrome behind a flag and by Google for whitelisted gmail.com users. On W3C TAG feedback, split into the W3C Email Verification API (browser APIs) and the IETF Email Verification Protocol (browser↔issuer interactions). A Chrome origin trial (3–6 months) begins shortly — changes welcome in that window, so engaging IETF now rather than presenting a fait accompli.</a:t>
            </a:r>
            <a:endParaRPr sz="1500" dirty="0">
              <a:solidFill>
                <a:srgbClr val="262626"/>
              </a:solidFill>
              <a:latin typeface="Montserrat"/>
              <a:ea typeface="Montserrat"/>
              <a:cs typeface="Montserrat"/>
              <a:sym typeface="Montserrat"/>
            </a:endParaRPr>
          </a:p>
          <a:p>
            <a:pPr marL="0" lvl="0" indent="0" algn="l" rtl="0">
              <a:spcBef>
                <a:spcPts val="600"/>
              </a:spcBef>
              <a:spcAft>
                <a:spcPts val="0"/>
              </a:spcAft>
              <a:buNone/>
            </a:pPr>
            <a:r>
              <a:rPr lang="en-US" sz="1500" b="1" dirty="0">
                <a:solidFill>
                  <a:srgbClr val="06323D"/>
                </a:solidFill>
                <a:latin typeface="Montserrat"/>
                <a:ea typeface="Montserrat"/>
                <a:cs typeface="Montserrat"/>
                <a:sym typeface="Montserrat"/>
              </a:rPr>
              <a:t>Pointers:</a:t>
            </a:r>
            <a:endParaRPr sz="1500" b="1" dirty="0">
              <a:solidFill>
                <a:srgbClr val="06323D"/>
              </a:solidFill>
              <a:latin typeface="Montserrat"/>
              <a:ea typeface="Montserrat"/>
              <a:cs typeface="Montserrat"/>
              <a:sym typeface="Montserrat"/>
            </a:endParaRP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I-D: </a:t>
            </a:r>
            <a:r>
              <a:rPr lang="en-US" sz="1500" dirty="0">
                <a:solidFill>
                  <a:srgbClr val="262626"/>
                </a:solidFill>
                <a:latin typeface="Montserrat"/>
                <a:ea typeface="Montserrat"/>
                <a:cs typeface="Montserrat"/>
                <a:sym typeface="Montserrat"/>
              </a:rPr>
              <a:t>draft-hardt-email-verification (Hardt, Goto) — datatracker.ietf.org/doc/draft-hardt-email-verification</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W3C companion (browser API): </a:t>
            </a:r>
            <a:r>
              <a:rPr lang="en-US" sz="1500" dirty="0">
                <a:solidFill>
                  <a:srgbClr val="262626"/>
                </a:solidFill>
                <a:latin typeface="Montserrat"/>
                <a:ea typeface="Montserrat"/>
                <a:cs typeface="Montserrat"/>
                <a:sym typeface="Montserrat"/>
              </a:rPr>
              <a:t>WICG Email Verification API — wicg.github.io/email-verification (github.com/WICG/email-verification)</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Implementations: </a:t>
            </a:r>
            <a:r>
              <a:rPr lang="en-US" sz="1500" dirty="0">
                <a:solidFill>
                  <a:srgbClr val="262626"/>
                </a:solidFill>
                <a:latin typeface="Montserrat"/>
                <a:ea typeface="Montserrat"/>
                <a:cs typeface="Montserrat"/>
                <a:sym typeface="Montserrat"/>
              </a:rPr>
              <a:t>Chrome + Edge origin trials; Google (gmail.com / accounts.google.com), Hellō (issuer.hello.coop)</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Prior engagement: </a:t>
            </a:r>
            <a:r>
              <a:rPr lang="en-US" sz="1500" dirty="0">
                <a:solidFill>
                  <a:srgbClr val="262626"/>
                </a:solidFill>
                <a:latin typeface="Montserrat"/>
                <a:ea typeface="Montserrat"/>
                <a:cs typeface="Montserrat"/>
                <a:sym typeface="Montserrat"/>
              </a:rPr>
              <a:t>W3C incubation (WICG) and W3C TAG review</a:t>
            </a:r>
          </a:p>
        </p:txBody>
      </p:sp>
      <p:sp>
        <p:nvSpPr>
          <p:cNvPr id="3" name="灯片编号占位符 2">
            <a:extLst>
              <a:ext uri="{FF2B5EF4-FFF2-40B4-BE49-F238E27FC236}">
                <a16:creationId xmlns:a16="http://schemas.microsoft.com/office/drawing/2014/main" id="{DE69CEC9-7C4C-4D98-B960-8374EA1AF23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28f69ff7af0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The dispatch question</a:t>
            </a:r>
            <a:endParaRPr b="1"/>
          </a:p>
        </p:txBody>
      </p:sp>
      <p:sp>
        <p:nvSpPr>
          <p:cNvPr id="148" name="Google Shape;148;g28f69ff7af0_0_0"/>
          <p:cNvSpPr txBox="1"/>
          <p:nvPr/>
        </p:nvSpPr>
        <p:spPr>
          <a:xfrm>
            <a:off x="401925" y="1168250"/>
            <a:ext cx="8523000" cy="22621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b="1" dirty="0">
                <a:solidFill>
                  <a:srgbClr val="06323D"/>
                </a:solidFill>
                <a:latin typeface="Montserrat"/>
                <a:ea typeface="Montserrat"/>
                <a:cs typeface="Montserrat"/>
                <a:sym typeface="Montserrat"/>
              </a:rPr>
              <a:t>EVP reuses existing building blocks. </a:t>
            </a:r>
            <a:r>
              <a:rPr lang="en-US" sz="1500" dirty="0">
                <a:solidFill>
                  <a:srgbClr val="262626"/>
                </a:solidFill>
                <a:latin typeface="Montserrat"/>
                <a:ea typeface="Montserrat"/>
                <a:cs typeface="Montserrat"/>
                <a:sym typeface="Montserrat"/>
              </a:rPr>
              <a:t>That reuse is the crux of where it should live — the work spans several areas:</a:t>
            </a:r>
            <a:endParaRPr sz="1500" dirty="0">
              <a:solidFill>
                <a:srgbClr val="262626"/>
              </a:solidFill>
              <a:latin typeface="Montserrat"/>
              <a:ea typeface="Montserrat"/>
              <a:cs typeface="Montserrat"/>
              <a:sym typeface="Montserrat"/>
            </a:endParaRP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Token — SD-JWT with key binding (EVT + KB-JWT): </a:t>
            </a:r>
            <a:r>
              <a:rPr lang="en-US" sz="1500" dirty="0">
                <a:solidFill>
                  <a:srgbClr val="262626"/>
                </a:solidFill>
                <a:latin typeface="Montserrat"/>
                <a:ea typeface="Montserrat"/>
                <a:cs typeface="Montserrat"/>
                <a:sym typeface="Montserrat"/>
              </a:rPr>
              <a:t>credential-format territory that overlaps SPICE / OAuth.</a:t>
            </a: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Issuer discovery — DNS delegation: </a:t>
            </a:r>
            <a:r>
              <a:rPr lang="en-US" sz="1500" dirty="0">
                <a:solidFill>
                  <a:srgbClr val="262626"/>
                </a:solidFill>
                <a:latin typeface="Montserrat"/>
                <a:ea typeface="Montserrat"/>
                <a:cs typeface="Montserrat"/>
                <a:sym typeface="Montserrat"/>
              </a:rPr>
              <a:t>DNS-based delegation from the email domain to the issuer.</a:t>
            </a: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Request auth — HTTP Message Signatures + a Fetch-metadata request header: </a:t>
            </a:r>
            <a:r>
              <a:rPr lang="en-US" sz="1500" dirty="0">
                <a:solidFill>
                  <a:srgbClr val="262626"/>
                </a:solidFill>
                <a:latin typeface="Montserrat"/>
                <a:ea typeface="Montserrat"/>
                <a:cs typeface="Montserrat"/>
                <a:sym typeface="Montserrat"/>
              </a:rPr>
              <a:t>httpbis territory.</a:t>
            </a:r>
          </a:p>
        </p:txBody>
      </p:sp>
      <p:sp>
        <p:nvSpPr>
          <p:cNvPr id="3" name="灯片编号占位符 2">
            <a:extLst>
              <a:ext uri="{FF2B5EF4-FFF2-40B4-BE49-F238E27FC236}">
                <a16:creationId xmlns:a16="http://schemas.microsoft.com/office/drawing/2014/main" id="{DE69CEC9-7C4C-4D98-B960-8374EA1AF23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8f69ff7af0_0_12"/>
          <p:cNvSpPr txBox="1">
            <a:spLocks noGrp="1"/>
          </p:cNvSpPr>
          <p:nvPr>
            <p:ph type="title"/>
          </p:nvPr>
        </p:nvSpPr>
        <p:spPr>
          <a:xfrm>
            <a:off x="401925" y="16350"/>
            <a:ext cx="8523000" cy="60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b="1" dirty="0"/>
              <a:t>Desired dispatch outcome</a:t>
            </a:r>
            <a:endParaRPr b="1" dirty="0"/>
          </a:p>
        </p:txBody>
      </p:sp>
      <p:sp>
        <p:nvSpPr>
          <p:cNvPr id="154" name="Google Shape;154;g28f69ff7af0_0_12"/>
          <p:cNvSpPr txBox="1"/>
          <p:nvPr/>
        </p:nvSpPr>
        <p:spPr>
          <a:xfrm>
            <a:off x="471575" y="1027100"/>
            <a:ext cx="8229000" cy="3014641"/>
          </a:xfrm>
          <a:prstGeom prst="rect">
            <a:avLst/>
          </a:prstGeom>
          <a:noFill/>
          <a:ln>
            <a:noFill/>
          </a:ln>
        </p:spPr>
        <p:txBody>
          <a:bodyPr spcFirstLastPara="1" wrap="square" lIns="91425" tIns="91425" rIns="91425" bIns="91425" anchor="t" anchorCtr="0">
            <a:spAutoFit/>
          </a:bodyPr>
          <a:lstStyle/>
          <a:p>
            <a:pPr marL="0" lvl="0" indent="0" algn="l" rtl="0">
              <a:lnSpc>
                <a:spcPct val="110000"/>
              </a:lnSpc>
              <a:spcBef>
                <a:spcPts val="300"/>
              </a:spcBef>
              <a:spcAft>
                <a:spcPts val="0"/>
              </a:spcAft>
              <a:buNone/>
            </a:pPr>
            <a:r>
              <a:rPr lang="en-US" sz="1800" b="1" dirty="0">
                <a:solidFill>
                  <a:srgbClr val="06323D"/>
                </a:solidFill>
                <a:latin typeface="Montserrat"/>
                <a:ea typeface="Montserrat"/>
                <a:cs typeface="Montserrat"/>
                <a:sym typeface="Montserrat"/>
              </a:rPr>
              <a:t>Our ask of dispatch — help find the right home:</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30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Direct the work to an existing WG</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Propose a new focused WG</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Recommendation to hold a full BOF</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rgbClr val="06323D"/>
              </a:buClr>
              <a:buSzPts val="1800"/>
              <a:buFont typeface="Montserrat"/>
              <a:buChar char="●"/>
            </a:pPr>
            <a:r>
              <a:rPr lang="en-US" sz="1800" b="1" dirty="0">
                <a:solidFill>
                  <a:srgbClr val="06323D"/>
                </a:solidFill>
                <a:latin typeface="Montserrat"/>
                <a:ea typeface="Montserrat"/>
                <a:cs typeface="Montserrat"/>
                <a:sym typeface="Montserrat"/>
              </a:rPr>
              <a:t>Publish as AD-sponsored (assuming AD is willing)  ← preferred</a:t>
            </a:r>
            <a:endParaRPr sz="1800" b="1" dirty="0">
              <a:solidFill>
                <a:srgbClr val="06323D"/>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Additional discussion or community development required (e.g., with a new non-WG mailing list)</a:t>
            </a:r>
            <a:endParaRPr sz="1800" i="1" dirty="0">
              <a:solidFill>
                <a:schemeClr val="lt2"/>
              </a:solidFill>
              <a:latin typeface="Montserrat"/>
              <a:ea typeface="Montserrat"/>
              <a:cs typeface="Montserrat"/>
              <a:sym typeface="Montserrat"/>
            </a:endParaRPr>
          </a:p>
          <a:p>
            <a:pPr marL="0" lvl="0" indent="0" algn="l" rtl="0">
              <a:lnSpc>
                <a:spcPct val="110000"/>
              </a:lnSpc>
              <a:spcBef>
                <a:spcPts val="300"/>
              </a:spcBef>
              <a:spcAft>
                <a:spcPts val="0"/>
              </a:spcAft>
              <a:buNone/>
            </a:pPr>
            <a:endParaRPr sz="1800" i="1" dirty="0">
              <a:solidFill>
                <a:schemeClr val="lt2"/>
              </a:solidFill>
              <a:latin typeface="Montserrat"/>
              <a:ea typeface="Montserrat"/>
              <a:cs typeface="Montserrat"/>
              <a:sym typeface="Montserrat"/>
            </a:endParaRPr>
          </a:p>
          <a:p>
            <a:pPr marL="0" lvl="0" indent="0" algn="l" rtl="0">
              <a:spcBef>
                <a:spcPts val="0"/>
              </a:spcBef>
              <a:spcAft>
                <a:spcPts val="0"/>
              </a:spcAft>
              <a:buNone/>
            </a:pPr>
            <a:r>
              <a:rPr lang="en-US" sz="1500" i="1" dirty="0">
                <a:solidFill>
                  <a:srgbClr val="262626"/>
                </a:solidFill>
                <a:latin typeface="Montserrat"/>
                <a:ea typeface="Montserrat"/>
                <a:cs typeface="Montserrat"/>
                <a:sym typeface="Montserrat"/>
              </a:rPr>
              <a:t>EVP spans SPICE, email, and HTTP — it doesn’t fit cleanly in one WG.</a:t>
            </a:r>
            <a:endParaRPr sz="1500" i="1" dirty="0">
              <a:solidFill>
                <a:srgbClr val="262626"/>
              </a:solidFill>
              <a:latin typeface="Montserrat"/>
              <a:ea typeface="Montserrat"/>
              <a:cs typeface="Montserrat"/>
              <a:sym typeface="Montserrat"/>
            </a:endParaRPr>
          </a:p>
        </p:txBody>
      </p:sp>
      <p:sp>
        <p:nvSpPr>
          <p:cNvPr id="3" name="灯片编号占位符 2">
            <a:extLst>
              <a:ext uri="{FF2B5EF4-FFF2-40B4-BE49-F238E27FC236}">
                <a16:creationId xmlns:a16="http://schemas.microsoft.com/office/drawing/2014/main" id="{7A4018DB-48FC-444A-91F2-7F0FF2CAA28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
        <p:nvSpPr>
          <p:cNvPr id="4" name="TextBox 3">
            <a:extLst>
              <a:ext uri="{FF2B5EF4-FFF2-40B4-BE49-F238E27FC236}">
                <a16:creationId xmlns:a16="http://schemas.microsoft.com/office/drawing/2014/main" id="{83D20DCD-BA1A-CB36-F865-05E5B5D03A63}"/>
              </a:ext>
            </a:extLst>
          </p:cNvPr>
          <p:cNvSpPr txBox="1"/>
          <p:nvPr/>
        </p:nvSpPr>
        <p:spPr>
          <a:xfrm>
            <a:off x="544663" y="4116400"/>
            <a:ext cx="6253701" cy="400110"/>
          </a:xfrm>
          <a:prstGeom prst="rect">
            <a:avLst/>
          </a:prstGeom>
          <a:noFill/>
        </p:spPr>
        <p:txBody>
          <a:bodyPr wrap="square">
            <a:spAutoFit/>
          </a:bodyPr>
          <a:lstStyle/>
          <a:p>
            <a:r>
              <a:rPr lang="en-US" sz="2000" dirty="0">
                <a:solidFill>
                  <a:srgbClr val="FF0000"/>
                </a:solidFill>
              </a:rPr>
              <a:t>Side Meeting: Monday 16:00 – 17:00 Park Suite 4</a:t>
            </a:r>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549</Words>
  <Application>Microsoft Macintosh PowerPoint</Application>
  <PresentationFormat>On-screen Show (16:9)</PresentationFormat>
  <Paragraphs>37</Paragraphs>
  <Slides>5</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vt:i4>
      </vt:variant>
    </vt:vector>
  </HeadingPairs>
  <TitlesOfParts>
    <vt:vector size="13" baseType="lpstr">
      <vt:lpstr>Inter</vt:lpstr>
      <vt:lpstr>Open Sans</vt:lpstr>
      <vt:lpstr>Open Sans SemiBold</vt:lpstr>
      <vt:lpstr>Roboto</vt:lpstr>
      <vt:lpstr>Montserrat</vt:lpstr>
      <vt:lpstr>Arial</vt:lpstr>
      <vt:lpstr>Material</vt:lpstr>
      <vt:lpstr>IETF Template</vt:lpstr>
      <vt:lpstr>Email Verification Protocol (EVP)  draft-hardt-email-verification</vt:lpstr>
      <vt:lpstr>Motivation</vt:lpstr>
      <vt:lpstr>Background</vt:lpstr>
      <vt:lpstr>The dispatch question</vt:lpstr>
      <vt:lpstr>Desired dispatch 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linked ietf draft title</dc:title>
  <dc:creator>Pengshuping (Peng Shuping)</dc:creator>
  <cp:lastModifiedBy>Dick Hardt</cp:lastModifiedBy>
  <cp:revision>6</cp:revision>
  <dcterms:modified xsi:type="dcterms:W3CDTF">2026-07-15T09:55:22Z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1678083488</vt:lpwstr>
  </property>
  <property fmtid="{D5CDD505-2E9C-101B-9397-08002B2CF9AE}" pid="6" name="_2015_ms_pID_725343">
    <vt:lpwstr>(2)xVnKhFYPCbCOmvT5WUBRDvKZdR6Q0FPFkRSkZ7gMAaTFOTy6Z50Oxx2pNVMeFzkFCXfzL2Po
EBGKra7t1MQ7q6LWFiX2F3t/2RmtCkE0VLXP1L3UWLk48kXw5AUd5AkeUVfB0Gg/QOmYRNr9
IkY2ifLLJ9aulvJPIqwB9qOYtw2eUVkdW9haBMViPWE0U+4M1pxY8Mwz+N0oBJSd7b3T9X5D
rL/CL4JktDgeG81PN5</vt:lpwstr>
  </property>
  <property fmtid="{D5CDD505-2E9C-101B-9397-08002B2CF9AE}" pid="7" name="_2015_ms_pID_7253431">
    <vt:lpwstr>ulVfEX0dgydRZWl0OUitW0qnS+Qtc52wHL+eAUThlPGCl5FJqBOFq9
XMfTZd3MPkMVT3HvUpV2hTT8DT8hKNRsxbdKhLLtp2m0f9jXflRq9g9npNJ+h2dCbvqllpMx
0Z6t+XB5oLaGG329ecBucW9t/TZW2N6X3oZ5B+1yMK4WqGmUmhFm2tjhDLrHogrTaX2gnXUP
DAIG5pQGsyxGvCRJ</vt:lpwstr>
  </property>
</Properties>
</file>